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11A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2211A"/>
                </a:solidFill>
                <a:latin typeface="Cambria"/>
              </a:rPr>
              <a:t>Потребление в % от нормы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Норма по региону</c:v>
                </c:pt>
              </c:strCache>
            </c:strRef>
          </c:tx>
          <c:spPr>
            <a:solidFill>
              <a:srgbClr val="DCECE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F6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Электричество</c:v>
                  </c:pt>
                  <c:pt idx="1">
                    <c:v>Вода</c:v>
                  </c:pt>
                  <c:pt idx="2">
                    <c:v>Отходы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Школа-гимназия №21</c:v>
                </c:pt>
              </c:strCache>
            </c:strRef>
          </c:tx>
          <c:spPr>
            <a:solidFill>
              <a:srgbClr val="B3402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F6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Электричество</c:v>
                  </c:pt>
                  <c:pt idx="1">
                    <c:v>Вода</c:v>
                  </c:pt>
                  <c:pt idx="2">
                    <c:v>Отходы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129</c:v>
                </c:pt>
                <c:pt idx="1">
                  <c:v>129</c:v>
                </c:pt>
                <c:pt idx="2">
                  <c:v>120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5C6F6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F6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12700" cap="flat">
              <a:solidFill>
                <a:srgbClr val="DCEC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6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F6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EcoFin отвечает на два вопроса, на которые не отвечает квитанция: много это или мало, и что 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не в отсутствии желания экономить, а в отсутствии дешёвой диагностики.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порог входа снижен до трёх чисел.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 разделение ролей: модель — эксперт, платформа — бухгалтер.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разных типа объекта дают три разных набора мер — это проверялось.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слайд для критерия «использование ИИ». Показать, что риски модели закрыты инженерно.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Прочитать вслух первую цитату — она сама себя продаёт.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Домохозяйства дают охват, организации — деньги.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предложенная, не проверенная продажами — сказать честно, если спросят.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 открыт, ссылка на репозиторий на последнем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обезоруживает вопрос жюри про достоверность цифр. Лучше сказать самим.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Закрыть цифрой экономии и ссылкой на живой прототип.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4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EcoFin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утекают ресурсы и сколько тенге можно вернуть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AI-платформа ресурсоэффективности для домохозяйств,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 и малого бизнеса Казахстана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ecofin-chi.vercel.app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55280" y="173736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2E6748"/>
          </a:solidFill>
          <a:ln w="12700">
            <a:solidFill>
              <a:srgbClr val="3F81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Школа-гимназия на 500 учащихся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36 480 ₸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месяц — найденная экономия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437 760 ₸ в год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0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вывод платформы на демо-профиле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Квитанция показывает сумму — и больше ничего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472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F0F7F2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 это или мало?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 чем сравнить. Нет понимания, нормальный ли расход для объекта такого типа и размера.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4472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65960"/>
            <a:ext cx="457200" cy="457200"/>
          </a:xfrm>
          <a:prstGeom prst="ellipse">
            <a:avLst/>
          </a:prstGeom>
          <a:solidFill>
            <a:srgbClr val="F0F7F2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256032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конкретно сделать?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2971800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Советы уровня «экономьте воду» не превращаются в действия и не дают результата.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4472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965960"/>
            <a:ext cx="457200" cy="457200"/>
          </a:xfrm>
          <a:prstGeom prst="ellipse">
            <a:avLst/>
          </a:prstGeom>
          <a:solidFill>
            <a:srgbClr val="F0F7F2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7616" y="256032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я верну?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2971800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цифры в тенге меры не проходят согласование ни в семье, ни в бюджете учреждения.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0F7F2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Энергоаудит стоит денег и доступен единицам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051560" y="4937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Обследование здания — это выезд специалиста, приборы и счёт на сотни тысяч тенге. Для квартиры, сельской школы или кофейни такой порог непреодолим, поэтому перерасход просто оплачивается годами.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цифры из квитанции — и конкретный план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EcoFin сравнивает потребление объекта со средним по его региону для объектов того же типа, находит перерасход и с помощью Claude формирует меры под конкретный объект. Каждая мера переведена в тенге по тарифам.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i="1" dirty="0">
                <a:solidFill>
                  <a:srgbClr val="2E6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датчиков. Без выезда специалиста.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i="1" dirty="0">
                <a:solidFill>
                  <a:srgbClr val="2E6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регистрации. Около минуты.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5029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получает пользователь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233172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региональной нормой по трём ресурсам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трёх до восьми конкретных мер под тип объекта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каждой меры в тенге в месяц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«применил» и подсчёт фактического результата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Разрез по подразделениям для школ и бизнеса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шага пользователя, четыре — платформы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0B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96112" y="2606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Ввод показаний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3127248"/>
            <a:ext cx="2057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объекта, регион и потребление за месяц: электричество, вода, отходы. Отходы необязательны.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0B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85032" y="2606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с нормой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85032" y="3127248"/>
            <a:ext cx="2057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берёт бенчмарк по региону и типу объекта, считает отклонение по каждому ресурсу.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0B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73952" y="2606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Claude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3127248"/>
            <a:ext cx="2057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получает карточку объекта с готовыми отклонениями и предлагает меры, привязанные к этим цифрам.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173736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0B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262872" y="2606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Экономия в тенге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62872" y="3127248"/>
            <a:ext cx="2057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Оценку модели в кВт·ч, м³ и кг платформа переводит в деньги по тарифам и показывает итог.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0F7F2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349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 считает платформа, а не модель: тарифы и арифметика — детерминированный код, а не текст языковой модели.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платформа находит на реальном профиле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91640"/>
            <a:ext cx="4572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6948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6948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36 480 ₸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418320" y="2258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месяц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69480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мер, перерасход по всем трём ресурсам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49440" y="3044952"/>
            <a:ext cx="4572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9480" y="3182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Кофейня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69480" y="34564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15 120 ₸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41832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месяц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69480" y="3931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мер, холодильное оборудование и мойка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49440" y="4398264"/>
            <a:ext cx="4572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9480" y="45354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Квартира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69480" y="48097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4 130 ₸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9418320" y="4965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месяц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69480" y="5285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мер, техника и сантехника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получены живыми запросами к модели на демо-профилях. Тарифы и региональные нормы в прототипе — примерные значения.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4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ПРОДУКТА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 не обёртка над чат-ботом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2E6748"/>
          </a:solidFill>
          <a:ln w="12700">
            <a:solidFill>
              <a:srgbClr val="3F81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842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не считает деньги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048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оценивает экономию только в кВт·ч, м³ и кг. Перевод в тенге — код по тарифам. Модель ошибается в арифметике, а цифра экономии — главный экран продукта.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2E6748"/>
          </a:solidFill>
          <a:ln w="12700">
            <a:solidFill>
              <a:srgbClr val="3F81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842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 ответа задана схемой API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4048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просьбой в промпте, а JSON Schema в output_config. Markdown-обёртка и преамбула невозможны на уровне протокола.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2E6748"/>
          </a:solidFill>
          <a:ln w="12700">
            <a:solidFill>
              <a:srgbClr val="3F81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416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Невозможные меры отбрасываются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4622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заявленная экономия больше текущего потребления по ресурсу, рекомендация выкидывается до показа пользователю.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8404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2E6748"/>
          </a:solidFill>
          <a:ln w="12700">
            <a:solidFill>
              <a:srgbClr val="3F81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0416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Отклонения считает платформа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446227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получает готовый перерасход в процентах и не тратит внимание на арифметику.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API не роняет страницу: шесть типов отказа переводятся в понятный текст с кнопкой повтора.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ВЫВОДА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 выглядит рекомендация, а не «экономьте свет»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ЭЛЕКТРИЧЕСТВО   ·   −650 кВт·ч/мес   ·   16 250 ₸/мес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«Замените люминесцентные лампы и лампы накаливания в классах и коридорах на светодиодные аналоги, 10–12 Вт вместо 40–60 Вт, особенно в кабинетах с продлённым освещением из-за коротких зимних дней в ЗКО.»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0F7F2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886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Обоснование, которое модель возвращает вместе с мерой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42062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 перерасходе 1400 кВт·ч замена освещения даёт наибольший эффект: в учебных заведениях свет работает 8–10 часов ежедневно, особенно зимой при коротком световом дне на западе Казахстана. LED снижает потребление освещения на 60–70%, что при типовой доле освещения в балансе школы около 25–30% даёт порядка 650 кВт·ч в месяц.»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к цифрам объекта, к его типу и к климату региона. Общие советы системный промпт запрещает напрямую.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сегмента, один механизм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47288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Домохозяйства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3957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Квартиры и частные дома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заметен в семейном бюджете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доступа к аудиту в принципе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и канал распространения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447288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965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Школы и детские сады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81728" y="23957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Бюджетные учреждения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81728" y="288036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— прямая задача завхоза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Разрез по корпусам и классам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аргумент для отчёта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1691640"/>
            <a:ext cx="3447288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965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Малый бизнес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03336" y="23957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Кафе, магазины, офисы, цеха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03336" y="288036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Коммуналка — постоянная статья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принимается за день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платить за инструмент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Бесплатно для людей, подписка для организаций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47288" cy="2880360"/>
          </a:xfrm>
          <a:prstGeom prst="roundRect">
            <a:avLst>
              <a:gd name="adj" fmla="val 2540"/>
            </a:avLst>
          </a:prstGeom>
          <a:solidFill>
            <a:srgbClr val="F0F7F2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Домохозяйства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Бесплатно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объект, анализ и рекомендации. Канал привлечения и источник данных о реальном потреблении.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447288" cy="2880360"/>
          </a:xfrm>
          <a:prstGeom prst="roundRect">
            <a:avLst>
              <a:gd name="adj" fmla="val 2540"/>
            </a:avLst>
          </a:prstGeom>
          <a:solidFill>
            <a:srgbClr val="2E6748"/>
          </a:solidFill>
          <a:ln w="12700">
            <a:solidFill>
              <a:srgbClr val="3F81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920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Школы и бизнес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81728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Подписка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81728" y="28346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Подразделения, история по месяцам, отчёт для руководства и подтверждение эффекта после внедрения.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1691640"/>
            <a:ext cx="3447288" cy="2880360"/>
          </a:xfrm>
          <a:prstGeom prst="roundRect">
            <a:avLst>
              <a:gd name="adj" fmla="val 2540"/>
            </a:avLst>
          </a:prstGeom>
          <a:solidFill>
            <a:srgbClr val="F0F7F2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920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Акиматы и сети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03336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договору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403336" y="28346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Портфель объектов, сравнение школ между собой, выгрузка для программ энергосбережения.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983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за это платят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5303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окупается первой же внедрённой мерой: одна школа из демо получает 36 тысяч тенге в месяц. Продукт продаёт себя посчитанной экономией, а не обещанием.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под капотом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7607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 и сервер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App Router, React 19, TypeScript strict, Tailwind CSS v4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Supabase, PostgreSQL 17. Шесть таблиц, RLS, транзакционное создание профиля через plpgsql-функцию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API, claude-sonnet-5, structured outputs с JSON Schema, adaptive thinking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4983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автодеплой из main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1645920"/>
            <a:ext cx="4754880" cy="4160520"/>
          </a:xfrm>
          <a:prstGeom prst="roundRect">
            <a:avLst>
              <a:gd name="adj" fmla="val 1758"/>
            </a:avLst>
          </a:prstGeom>
          <a:solidFill>
            <a:srgbClr val="F0F7F2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4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 данных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132320" y="2423160"/>
            <a:ext cx="310896" cy="310896"/>
          </a:xfrm>
          <a:prstGeom prst="ellipse">
            <a:avLst/>
          </a:prstGeom>
          <a:solidFill>
            <a:srgbClr val="2E6748"/>
          </a:solidFill>
          <a:ln w="12700">
            <a:solidFill>
              <a:srgbClr val="2E6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24048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 → профиль и показатели создаются одной транзакцией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3246120"/>
            <a:ext cx="310896" cy="310896"/>
          </a:xfrm>
          <a:prstGeom prst="ellipse">
            <a:avLst/>
          </a:prstGeom>
          <a:solidFill>
            <a:srgbClr val="2E6748"/>
          </a:solidFill>
          <a:ln w="12700">
            <a:solidFill>
              <a:srgbClr val="2E6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322783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читает профиль, бенчмарки и рекомендации на сервере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4069080"/>
            <a:ext cx="310896" cy="310896"/>
          </a:xfrm>
          <a:prstGeom prst="ellipse">
            <a:avLst/>
          </a:prstGeom>
          <a:solidFill>
            <a:srgbClr val="2E6748"/>
          </a:solidFill>
          <a:ln w="12700">
            <a:solidFill>
              <a:srgbClr val="2E67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40507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→ Claude → валидация ответа → перевод в тенге → запись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4892040"/>
            <a:ext cx="310896" cy="310896"/>
          </a:xfrm>
          <a:prstGeom prst="ellipse">
            <a:avLst/>
          </a:prstGeom>
          <a:solidFill>
            <a:srgbClr val="2E6748"/>
          </a:solidFill>
          <a:ln w="12700">
            <a:solidFill>
              <a:srgbClr val="2E67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487375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«применил» пересчитывает итоговую экономию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6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О ПРОТОТИПЕ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работает по-настоящему, а что — оценка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7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Работает по-настоящему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профиля — запись в PostgreSQL одной транзакцией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— живой вызов модели на введённых данных, заготовок в коде нет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экономии в тенге — детерминированный код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нормой, отклонения, панель подразделений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Требует замены перед боем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66560" y="242316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Тарифы 25 ₸/кВт·ч, 180 ₸/м³, 12 ₸/кг — порядок величины, не выверенные значения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Региональные нормы — экспертная оценка по открытым данным БНС РК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Собственные нормы заведены для четырёх регионов, для остальных — общестрановой откат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Аутентификации нет: профиль хранится в localStorage, политики доступа демонстрационные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ограничения перечислены в README репозитория. Замена тарифов и норм — правка двух файлов, архитектуру не затрагивает.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4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 и команда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2E6748"/>
          </a:solidFill>
          <a:ln w="12700">
            <a:solidFill>
              <a:srgbClr val="3F81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Ближайшее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тарифы по регионам, аутентификация, история показаний по месяцам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178308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2E6748"/>
          </a:solidFill>
          <a:ln w="12700">
            <a:solidFill>
              <a:srgbClr val="3F81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81728" y="23774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эффекта: сравнение расхода до и после внедрённой меры вместо оценки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1783080"/>
            <a:ext cx="3447288" cy="1783080"/>
          </a:xfrm>
          <a:prstGeom prst="roundRect">
            <a:avLst>
              <a:gd name="adj" fmla="val 4103"/>
            </a:avLst>
          </a:prstGeom>
          <a:solidFill>
            <a:srgbClr val="2E6748"/>
          </a:solidFill>
          <a:ln w="12700">
            <a:solidFill>
              <a:srgbClr val="3F81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3336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03336" y="23774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внедрения и срок окупаемости, импорт показаний фотографией квитанции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[Имя Фамилия] — соло-проект: продукт, разработка, дизайн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Ссылки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4389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Прототип:  ecofin-chi.vercel.app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Код:  github.com/stingersonx228/ecofin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C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Видео:  [ссылка]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FC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цифры из квитанции — конкретный план и деньги.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EcoFin — питч</dc:title>
  <dc:subject>PptxGenJS Presentation</dc:subject>
  <dc:creator>EcoFin</dc:creator>
  <cp:lastModifiedBy>EcoFin</cp:lastModifiedBy>
  <cp:revision>1</cp:revision>
  <dcterms:created xsi:type="dcterms:W3CDTF">2026-08-23T11:35:26Z</dcterms:created>
  <dcterms:modified xsi:type="dcterms:W3CDTF">2026-08-23T11:35:26Z</dcterms:modified>
</cp:coreProperties>
</file>